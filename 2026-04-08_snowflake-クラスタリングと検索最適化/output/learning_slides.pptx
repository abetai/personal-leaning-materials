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1547813"/>
            <a:ext cx="829066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クラスタリングと検索最適化サービス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297359" y="2817763"/>
            <a:ext cx="454928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10億レコード超のテーブルを数秒で検索する技術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1002" y="3385989"/>
            <a:ext cx="18418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2026-04-08 | 自分用学習資料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4401" y="704701"/>
            <a:ext cx="634901" cy="5075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105072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5157" y="111412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5252" y="984052"/>
            <a:ext cx="28343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パーティション / インデックスの復習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4401" y="156492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5157" y="162832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5252" y="1498253"/>
            <a:ext cx="29937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マイクロパーティションとプルーニング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4401" y="207912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5157" y="2142530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5252" y="2012454"/>
            <a:ext cx="250872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クラスタリングキーの設定と効果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98950" y="105072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99707" y="111412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9802" y="984052"/>
            <a:ext cx="21888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検索最適化サービスの仕組み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98950" y="156492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99707" y="162832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9802" y="1498253"/>
            <a:ext cx="15154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使い分け判断フロー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98950" y="207912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99707" y="2142530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9802" y="2012454"/>
            <a:ext cx="16838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まとめ・次のステップ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前提知識: パーティションとインデックス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4401" y="809476"/>
            <a:ext cx="634901" cy="5075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1088827"/>
            <a:ext cx="3968800" cy="996553"/>
          </a:xfrm>
          <a:prstGeom prst="roundRect">
            <a:avLst>
              <a:gd name="adj" fmla="val 764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6801" y="1241227"/>
            <a:ext cx="37372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パーティション（RDBMS/DWH）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6801" y="1552277"/>
            <a:ext cx="3737280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テーブルを物理的に分割して格納する仕組み。クエリ時に不要な区画を読み飛ばせる（パーティションプルーニング）。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4401" y="2212330"/>
            <a:ext cx="3968800" cy="996553"/>
          </a:xfrm>
          <a:prstGeom prst="roundRect">
            <a:avLst>
              <a:gd name="adj" fmla="val 764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6801" y="2364730"/>
            <a:ext cx="37372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インデックス（RDBMS）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6801" y="2675781"/>
            <a:ext cx="3737280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特定列の値から行の物理位置を高速に引ける補助データ構造。B-Tree / Hash が代表的。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30651" y="1088827"/>
            <a:ext cx="3968948" cy="996553"/>
          </a:xfrm>
          <a:prstGeom prst="roundRect">
            <a:avLst>
              <a:gd name="adj" fmla="val 764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83051" y="1241227"/>
            <a:ext cx="37374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の違い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83051" y="1552277"/>
            <a:ext cx="373743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事前にパーティション定義やインデックスを作る必要がない。代わりに「マイクロパーティション」が自動で作られる。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0651" y="2212330"/>
            <a:ext cx="3968948" cy="913954"/>
          </a:xfrm>
          <a:prstGeom prst="roundRect">
            <a:avLst>
              <a:gd name="adj" fmla="val 8337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7601" y="2339280"/>
            <a:ext cx="3789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なぜ問題になる？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57601" y="2618631"/>
            <a:ext cx="378934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自動分割は挿入順序に依存するため、クエリ条件と合わないとプルーニングできず全スキャンになる。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4401" y="3462784"/>
            <a:ext cx="84203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は RDBMS のインデックスに相当する機能を別の形で提供している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マイクロパーティションとは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4401" y="809476"/>
            <a:ext cx="634901" cy="5075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1050727"/>
            <a:ext cx="40806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1374577"/>
            <a:ext cx="4000649" cy="6855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2976" y="1374577"/>
            <a:ext cx="0" cy="685502"/>
          </a:xfrm>
          <a:prstGeom prst="line">
            <a:avLst/>
          </a:prstGeom>
          <a:noFill/>
          <a:ln w="5715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951" y="1526977"/>
            <a:ext cx="371147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50〜500MB の列指向データブロック。テーブルに INSERT された順番で自動分割される。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4401" y="2161580"/>
            <a:ext cx="4000649" cy="875854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976" y="2161580"/>
            <a:ext cx="0" cy="875854"/>
          </a:xfrm>
          <a:prstGeom prst="line">
            <a:avLst/>
          </a:prstGeom>
          <a:noFill/>
          <a:ln w="5715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951" y="2313980"/>
            <a:ext cx="3711473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各パーティションは列ごとの MIN/MAX 等のメタデータを保持。このメタデータだけで不要パーティションをスキップできる。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4401" y="3138934"/>
            <a:ext cx="4000649" cy="6855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2976" y="3138934"/>
            <a:ext cx="0" cy="685502"/>
          </a:xfrm>
          <a:prstGeom prst="line">
            <a:avLst/>
          </a:prstGeom>
          <a:noFill/>
          <a:ln w="5715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951" y="3291334"/>
            <a:ext cx="371147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事前定義不要 = スキーマ変更もコスト軽量。ただし挿入順序に依存するのが弱点。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98950" y="1050727"/>
            <a:ext cx="4000649" cy="2609255"/>
          </a:xfrm>
          <a:prstGeom prst="roundRect">
            <a:avLst>
              <a:gd name="adj" fmla="val 292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4392" y="1203127"/>
            <a:ext cx="37697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マイクロパーティションのイメージ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4392" y="1533227"/>
            <a:ext cx="37697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MP-1 (date: 11/1-11/2)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51350" y="1704677"/>
            <a:ext cx="1816150" cy="285750"/>
          </a:xfrm>
          <a:prstGeom prst="roundRect">
            <a:avLst>
              <a:gd name="adj" fmla="val 1777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10913" y="1780877"/>
            <a:ext cx="1697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11/1, A,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30901" y="1704677"/>
            <a:ext cx="1816298" cy="285750"/>
          </a:xfrm>
          <a:prstGeom prst="roundRect">
            <a:avLst>
              <a:gd name="adj" fmla="val 1777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90462" y="1780877"/>
            <a:ext cx="16971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11/2, B,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14392" y="2053828"/>
            <a:ext cx="37697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MP-2 (date: 11/2-11/3)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51350" y="2225278"/>
            <a:ext cx="1816150" cy="285750"/>
          </a:xfrm>
          <a:prstGeom prst="roundRect">
            <a:avLst>
              <a:gd name="adj" fmla="val 1777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10913" y="2301478"/>
            <a:ext cx="1697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11/2, C,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30901" y="2225278"/>
            <a:ext cx="1816298" cy="285750"/>
          </a:xfrm>
          <a:prstGeom prst="roundRect">
            <a:avLst>
              <a:gd name="adj" fmla="val 1777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90462" y="2301478"/>
            <a:ext cx="16971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11/3, A,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14392" y="2574429"/>
            <a:ext cx="37697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MP-3 (date: 11/3-11/4)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51350" y="2745879"/>
            <a:ext cx="1816150" cy="285750"/>
          </a:xfrm>
          <a:prstGeom prst="roundRect">
            <a:avLst>
              <a:gd name="adj" fmla="val 1777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10913" y="2822079"/>
            <a:ext cx="1697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11/3, D,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30901" y="2745879"/>
            <a:ext cx="1816298" cy="285750"/>
          </a:xfrm>
          <a:prstGeom prst="roundRect">
            <a:avLst>
              <a:gd name="adj" fmla="val 1777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90462" y="2822079"/>
            <a:ext cx="16971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11/4, B,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51350" y="3133130"/>
            <a:ext cx="3695849" cy="374452"/>
          </a:xfrm>
          <a:prstGeom prst="roundRect">
            <a:avLst>
              <a:gd name="adj" fmla="val 13566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17923" y="3234630"/>
            <a:ext cx="3562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メタデータ = 各列の値の範囲 (MIN/MAX)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プルーニング: 読まなくて良いデータを飛ばす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4401" y="809476"/>
            <a:ext cx="634901" cy="5075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1050727"/>
            <a:ext cx="40806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仕組み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1399877"/>
            <a:ext cx="408066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クエリの WHERE 条件とマイクロパーティションのメタデータ（MIN/MAX）を比較。条件に該当しないパーティションを読み飛ばす。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4401" y="2126903"/>
            <a:ext cx="4000649" cy="609302"/>
          </a:xfrm>
          <a:prstGeom prst="roundRect">
            <a:avLst>
              <a:gd name="adj" fmla="val 12506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2253853"/>
            <a:ext cx="382168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= '11/5' の場合: date の範囲にこの値を含むパーティションだけ読む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4401" y="2837706"/>
            <a:ext cx="4000649" cy="609302"/>
          </a:xfrm>
          <a:prstGeom prst="roundRect">
            <a:avLst>
              <a:gd name="adj" fmla="val 12506"/>
            </a:avLst>
          </a:prstGeom>
          <a:solidFill>
            <a:srgbClr val="F9EB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2964656"/>
            <a:ext cx="382168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= 2 の場合: type の値がほぼ全パーティションに分散 → 全スキャン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4401" y="3548509"/>
            <a:ext cx="40806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プルーニング率 = (total - scanned) / total で評価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98950" y="1050727"/>
            <a:ext cx="40806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検証結果（15億レコード / 2,429パーティション）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950" y="1355527"/>
            <a:ext cx="4000649" cy="1266230"/>
          </a:xfrm>
          <a:prstGeom prst="roundRect">
            <a:avLst>
              <a:gd name="adj" fmla="val 4012"/>
            </a:avLst>
          </a:prstGeom>
          <a:noFill/>
          <a:ln w="9525">
            <a:solidFill>
              <a:srgbClr val="D5DB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08475" y="1365052"/>
            <a:ext cx="3981599" cy="32385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9976" y="1441252"/>
            <a:ext cx="17129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条件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89353" y="1441252"/>
            <a:ext cx="12847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40488" y="1441252"/>
            <a:ext cx="8564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8475" y="1991916"/>
            <a:ext cx="3981599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976" y="1752302"/>
            <a:ext cx="17129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o_orderdate = '...'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89353" y="1752302"/>
            <a:ext cx="12847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743 / 2,429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40488" y="1752302"/>
            <a:ext cx="8564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2.4秒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8475" y="2299692"/>
            <a:ext cx="3981599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976" y="2060079"/>
            <a:ext cx="17129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o_totalprice BETWEEN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89353" y="2060079"/>
            <a:ext cx="12847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2,429 / 2,429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40488" y="2060079"/>
            <a:ext cx="8564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43秒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8475" y="2607469"/>
            <a:ext cx="3981599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976" y="2367855"/>
            <a:ext cx="17129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o_custkey = 133047718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9353" y="2367855"/>
            <a:ext cx="12847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2,429 / 2,429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40488" y="2367855"/>
            <a:ext cx="8564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6.6秒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8013" y="2125712"/>
            <a:ext cx="32279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クラスタリングキー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86120" y="2760613"/>
            <a:ext cx="53717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マイクロパーティションの並びを制御してプルーニング率を上げる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クラスタリングキーの設定方法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4401" y="809476"/>
            <a:ext cx="634901" cy="5075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1050727"/>
            <a:ext cx="40806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構文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1374577"/>
            <a:ext cx="4000649" cy="768251"/>
          </a:xfrm>
          <a:prstGeom prst="roundRect">
            <a:avLst>
              <a:gd name="adj" fmla="val 661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351" y="1501527"/>
            <a:ext cx="3821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ED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orders CLUSTER BY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351" y="1672977"/>
            <a:ext cx="3821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ED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(date_trunc(month, o_orderdate),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351" y="1844427"/>
            <a:ext cx="3821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ED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round(o_totalprice, -4));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4401" y="2269778"/>
            <a:ext cx="40806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4401" y="2593628"/>
            <a:ext cx="4000649" cy="380702"/>
          </a:xfrm>
          <a:prstGeom prst="roundRect">
            <a:avLst>
              <a:gd name="adj" fmla="val 1334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351" y="2695129"/>
            <a:ext cx="382168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単一列 / 複数列 / 関数適用した値を指定可能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4401" y="3075831"/>
            <a:ext cx="4000649" cy="558403"/>
          </a:xfrm>
          <a:prstGeom prst="roundRect">
            <a:avLst>
              <a:gd name="adj" fmla="val 9097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351" y="3177332"/>
            <a:ext cx="382168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設定後はバックグラウンドの自動クラスタリングサービスが再配置（クエリはブロックされない）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4401" y="3735735"/>
            <a:ext cx="4000649" cy="380702"/>
          </a:xfrm>
          <a:prstGeom prst="roundRect">
            <a:avLst>
              <a:gd name="adj" fmla="val 1334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1351" y="3837236"/>
            <a:ext cx="382168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SYSTEM$CLUSTERING_INFORMATION で進捗を確認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950" y="1240334"/>
            <a:ext cx="40806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カーディナリティの罠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98950" y="1772841"/>
            <a:ext cx="4000649" cy="869603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22763" y="1772841"/>
            <a:ext cx="0" cy="869603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526" y="1899791"/>
            <a:ext cx="37731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低すぎ（粗い）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526" y="2160091"/>
            <a:ext cx="377310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値の種類が少ない列 → 多くのパーティションに同じ値が含まれプルーニング効果が薄い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98950" y="2769394"/>
            <a:ext cx="4000649" cy="869603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22763" y="2769394"/>
            <a:ext cx="0" cy="869603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526" y="2896344"/>
            <a:ext cx="37731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高すぎ（細かい）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3526" y="3156645"/>
            <a:ext cx="377310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ユニーク値が多すぎ → パーティションが一定状態にならず再クラスタリングが繰り返される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98950" y="3791396"/>
            <a:ext cx="40806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date_trunc() や round() で適度に丸めるのがコツ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クラスタリングキーの効果（検証結果）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4401" y="809476"/>
            <a:ext cx="634901" cy="5075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1050727"/>
            <a:ext cx="40806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o_orderdate での検索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1399877"/>
            <a:ext cx="1905000" cy="901303"/>
          </a:xfrm>
          <a:prstGeom prst="roundRect">
            <a:avLst>
              <a:gd name="adj" fmla="val 8454"/>
            </a:avLst>
          </a:prstGeom>
          <a:solidFill>
            <a:srgbClr val="F9EB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351" y="1526828"/>
            <a:ext cx="16841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1351" y="1742629"/>
            <a:ext cx="168412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743 / 2,429 scanned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351" y="1958429"/>
            <a:ext cx="168412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39901" y="1399877"/>
            <a:ext cx="1905149" cy="901303"/>
          </a:xfrm>
          <a:prstGeom prst="roundRect">
            <a:avLst>
              <a:gd name="adj" fmla="val 8454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66851" y="1526828"/>
            <a:ext cx="16842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66851" y="1742629"/>
            <a:ext cx="168427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2,543 scanned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66851" y="1958429"/>
            <a:ext cx="168427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 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4401" y="2453580"/>
            <a:ext cx="40806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o_totalprice での検索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4401" y="2802731"/>
            <a:ext cx="1905000" cy="901303"/>
          </a:xfrm>
          <a:prstGeom prst="roundRect">
            <a:avLst>
              <a:gd name="adj" fmla="val 8454"/>
            </a:avLst>
          </a:prstGeom>
          <a:solidFill>
            <a:srgbClr val="F9EB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1351" y="2929682"/>
            <a:ext cx="16841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351" y="3145482"/>
            <a:ext cx="168412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2,429 / 2,429 scanned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351" y="3361283"/>
            <a:ext cx="168412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39901" y="2802731"/>
            <a:ext cx="1905149" cy="901303"/>
          </a:xfrm>
          <a:prstGeom prst="roundRect">
            <a:avLst>
              <a:gd name="adj" fmla="val 8454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66851" y="2929682"/>
            <a:ext cx="16842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66851" y="3145482"/>
            <a:ext cx="168427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386 / 2,543 scanned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66851" y="3361283"/>
            <a:ext cx="168427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98950" y="1152227"/>
            <a:ext cx="40806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実行時間の比較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98950" y="1444228"/>
            <a:ext cx="40806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o_orderdate (Before)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8950" y="1615678"/>
            <a:ext cx="571500" cy="22860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46650" y="1663303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8950" y="1945779"/>
            <a:ext cx="40806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o_orderdate (After)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98950" y="2117229"/>
            <a:ext cx="444401" cy="22860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19551" y="2164854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98950" y="2447330"/>
            <a:ext cx="40806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o_totalprice (Before)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98950" y="2618780"/>
            <a:ext cx="3555950" cy="22860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331101" y="2666405"/>
            <a:ext cx="194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98950" y="2948880"/>
            <a:ext cx="40806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o_totalprice (After)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98950" y="3120330"/>
            <a:ext cx="342900" cy="22860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18050" y="3167955"/>
            <a:ext cx="226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98950" y="3450431"/>
            <a:ext cx="4000649" cy="453926"/>
          </a:xfrm>
          <a:prstGeom prst="roundRect">
            <a:avLst>
              <a:gd name="adj" fmla="val 16787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88433" y="3577382"/>
            <a:ext cx="38216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o_totalprice: 43秒 → 4.1秒（約10倍高速化）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9797" y="2125712"/>
            <a:ext cx="32642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検索最適化サービス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141759" y="2760613"/>
            <a:ext cx="48604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クラスタリングキーでカバーできない列の検索を高速化する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検索最適化サービスの仕組み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4401" y="809476"/>
            <a:ext cx="634901" cy="5075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1050727"/>
            <a:ext cx="40806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1374577"/>
            <a:ext cx="408066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RDBMS のインデックスに近い概念。マイクロパーティションのメタデータとは別に「検索アクセスパス」を構築し、条件に合致する行を含むパーティションだけを特定する。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4401" y="2076152"/>
            <a:ext cx="40806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構文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4401" y="2400002"/>
            <a:ext cx="4000649" cy="768251"/>
          </a:xfrm>
          <a:prstGeom prst="roundRect">
            <a:avLst>
              <a:gd name="adj" fmla="val 661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351" y="2526953"/>
            <a:ext cx="3821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ED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orders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351" y="2698403"/>
            <a:ext cx="3821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ED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SEARCH OPTIMIZATION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1351" y="2869853"/>
            <a:ext cx="3821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ED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equality(o_custkey);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4401" y="3295204"/>
            <a:ext cx="4000649" cy="393353"/>
          </a:xfrm>
          <a:prstGeom prst="roundRect">
            <a:avLst>
              <a:gd name="adj" fmla="val 12915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25" y="3396704"/>
            <a:ext cx="387360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Edition 以上が必要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950" y="1050727"/>
            <a:ext cx="40806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最適化の種類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98950" y="1399877"/>
            <a:ext cx="4000649" cy="564952"/>
          </a:xfrm>
          <a:prstGeom prst="roundRect">
            <a:avLst>
              <a:gd name="adj" fmla="val 8992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5901" y="1501378"/>
            <a:ext cx="3821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5901" y="1682353"/>
            <a:ext cx="38216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等値比較 (= ) に最適化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98950" y="2041029"/>
            <a:ext cx="4000649" cy="564952"/>
          </a:xfrm>
          <a:prstGeom prst="roundRect">
            <a:avLst>
              <a:gd name="adj" fmla="val 8992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5901" y="2142530"/>
            <a:ext cx="3821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5901" y="2323505"/>
            <a:ext cx="38216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部分文字列・正規表現マッチに最適化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98950" y="2682180"/>
            <a:ext cx="4000649" cy="564952"/>
          </a:xfrm>
          <a:prstGeom prst="roundRect">
            <a:avLst>
              <a:gd name="adj" fmla="val 8992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5901" y="2783681"/>
            <a:ext cx="3821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full_text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5901" y="2964656"/>
            <a:ext cx="38216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全文検索に最適化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98950" y="3323332"/>
            <a:ext cx="4000649" cy="564952"/>
          </a:xfrm>
          <a:prstGeom prst="roundRect">
            <a:avLst>
              <a:gd name="adj" fmla="val 8992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25901" y="3424833"/>
            <a:ext cx="3821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5901" y="3605808"/>
            <a:ext cx="38216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地理空間検索に最適化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98950" y="4040684"/>
            <a:ext cx="4080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バックグラウンドで検索アクセスパスを構築（即時反映ではない）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検索最適化サービスの効果（検証結果）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4401" y="809476"/>
            <a:ext cx="634901" cy="5075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1050727"/>
            <a:ext cx="40806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o_custkey = 133047718 の検索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1374577"/>
            <a:ext cx="4000649" cy="1270992"/>
          </a:xfrm>
          <a:prstGeom prst="roundRect">
            <a:avLst>
              <a:gd name="adj" fmla="val 5995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801" y="1526977"/>
            <a:ext cx="37697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検索最適化後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6801" y="1818977"/>
            <a:ext cx="37697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Partitions scanned: 21 / 2,543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6801" y="2043708"/>
            <a:ext cx="37697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結果行数: 21行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6801" y="2268438"/>
            <a:ext cx="37697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実行時間: 0.8秒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4394" y="2772519"/>
            <a:ext cx="408066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8x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04394" y="3334494"/>
            <a:ext cx="40806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高速化 (6.6秒 → 0.8秒)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401" y="3670995"/>
            <a:ext cx="4000649" cy="869603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8213" y="3670995"/>
            <a:ext cx="0" cy="869603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976" y="3797945"/>
            <a:ext cx="37731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8976" y="4058245"/>
            <a:ext cx="377310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条件に合致する行が増えると、読むパーティション数も増えるため効果が薄れる。少数行のピンポイント検索に最適。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950" y="1050727"/>
            <a:ext cx="40806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98950" y="1352252"/>
            <a:ext cx="1936849" cy="952351"/>
          </a:xfrm>
          <a:prstGeom prst="roundRect">
            <a:avLst>
              <a:gd name="adj" fmla="val 8001"/>
            </a:avLst>
          </a:prstGeom>
          <a:solidFill>
            <a:srgbClr val="F9EB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09071" y="1479203"/>
            <a:ext cx="17166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9071" y="1682353"/>
            <a:ext cx="171660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09071" y="2044303"/>
            <a:ext cx="17166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2,429 partitions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2750" y="1352252"/>
            <a:ext cx="1936849" cy="952351"/>
          </a:xfrm>
          <a:prstGeom prst="roundRect">
            <a:avLst>
              <a:gd name="adj" fmla="val 8001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72871" y="1479203"/>
            <a:ext cx="17166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72871" y="1682353"/>
            <a:ext cx="171660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72871" y="2044303"/>
            <a:ext cx="17166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partitions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8950" y="2431554"/>
            <a:ext cx="40806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検索アクセスパスの確認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98950" y="2780705"/>
            <a:ext cx="4000649" cy="1203722"/>
          </a:xfrm>
          <a:prstGeom prst="roundRect">
            <a:avLst>
              <a:gd name="adj" fmla="val 6330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51350" y="2933105"/>
            <a:ext cx="37697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TABLES LIKE 'orders' で確認: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51350" y="3157835"/>
            <a:ext cx="37697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search_optimization = 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51350" y="3382566"/>
            <a:ext cx="37697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search_optimization_progress = 100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51350" y="3607296"/>
            <a:ext cx="37697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search_optimization_bytes = 6.38 GB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17450"/>
            <a:ext cx="84203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クラスタリング vs 検索最適化: 使い分け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4401" y="809476"/>
            <a:ext cx="634901" cy="5075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1050727"/>
            <a:ext cx="84203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1425327"/>
            <a:ext cx="8255198" cy="2486620"/>
          </a:xfrm>
          <a:prstGeom prst="roundRect">
            <a:avLst>
              <a:gd name="adj" fmla="val 3064"/>
            </a:avLst>
          </a:prstGeom>
          <a:noFill/>
          <a:ln w="9525">
            <a:solidFill>
              <a:srgbClr val="D5DB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3926" y="1434852"/>
            <a:ext cx="8236148" cy="403027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0876" y="1536353"/>
            <a:ext cx="22205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57934" y="1536353"/>
            <a:ext cx="29606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クラスタリングキー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0529" y="1536353"/>
            <a:ext cx="29606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検索最適化サービス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3926" y="2177207"/>
            <a:ext cx="8236148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876" y="1926729"/>
            <a:ext cx="2220599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仕組み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57934" y="1926729"/>
            <a:ext cx="296064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パーティション再配置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0529" y="1926729"/>
            <a:ext cx="296064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検索アクセスパス構築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3926" y="2181969"/>
            <a:ext cx="8236148" cy="344091"/>
          </a:xfrm>
          <a:prstGeom prst="rect">
            <a:avLst/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3926" y="2521297"/>
            <a:ext cx="8236148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876" y="2270820"/>
            <a:ext cx="2220599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得意な条件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57934" y="2270820"/>
            <a:ext cx="296064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範囲検索 / 頻出フィルタ列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0529" y="2270820"/>
            <a:ext cx="296064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等値・部分文字列・全文・地理空間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3926" y="2865388"/>
            <a:ext cx="8236148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876" y="2614910"/>
            <a:ext cx="2220599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ヒット行数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57934" y="2614910"/>
            <a:ext cx="296064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多くてもOK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0529" y="2614910"/>
            <a:ext cx="296064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少数行で効果大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3926" y="2870150"/>
            <a:ext cx="8236148" cy="344091"/>
          </a:xfrm>
          <a:prstGeom prst="rect">
            <a:avLst/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3926" y="3209479"/>
            <a:ext cx="8236148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876" y="2959001"/>
            <a:ext cx="2220599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エディション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57934" y="2959001"/>
            <a:ext cx="296064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以上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0529" y="2959001"/>
            <a:ext cx="296064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以上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3926" y="3553569"/>
            <a:ext cx="8236148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876" y="3303091"/>
            <a:ext cx="2220599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コスト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57934" y="3303091"/>
            <a:ext cx="296064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自動クラスタリングのクレジット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0529" y="3303091"/>
            <a:ext cx="296064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アクセスパスのストレージ + 構築コスト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3926" y="3558332"/>
            <a:ext cx="8236148" cy="344091"/>
          </a:xfrm>
          <a:prstGeom prst="rect">
            <a:avLst/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53926" y="3897660"/>
            <a:ext cx="8236148" cy="0"/>
          </a:xfrm>
          <a:prstGeom prst="line">
            <a:avLst/>
          </a:prstGeom>
          <a:noFill/>
          <a:ln w="9525">
            <a:solidFill>
              <a:srgbClr val="EAEC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876" y="3647182"/>
            <a:ext cx="2220599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併用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57934" y="3647182"/>
            <a:ext cx="296064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可能（むしろ推奨）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0529" y="3647182"/>
            <a:ext cx="2960647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可能（むしろ推奨）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44401" y="4064347"/>
            <a:ext cx="8255198" cy="736253"/>
          </a:xfrm>
          <a:prstGeom prst="roundRect">
            <a:avLst>
              <a:gd name="adj" fmla="val 1035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91338" y="4191298"/>
            <a:ext cx="81613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判断フロー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338" y="4483298"/>
            <a:ext cx="8161324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範囲検索が遅い → クラスタリングキー設定 → まだ遅い列がある → 検索最適化サービス追加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014710"/>
            <a:ext cx="803168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まとめ・次のステップ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4901" y="172581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6785" y="1725811"/>
            <a:ext cx="865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5002" y="1700510"/>
            <a:ext cx="43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マイクロパーティションは自動分割だが、挿入順序に依存する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10666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6785" y="2106662"/>
            <a:ext cx="865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5002" y="2081361"/>
            <a:ext cx="381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クラスタリングキーで再配置 → 範囲検索を10倍高速化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48751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6785" y="2487513"/>
            <a:ext cx="865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5002" y="2462213"/>
            <a:ext cx="3657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検索最適化サービスでピンポイント検索を8倍高速化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286836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6785" y="2868364"/>
            <a:ext cx="865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5002" y="2843064"/>
            <a:ext cx="3701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両方を併用して、あらゆるクエリパターンに対応可能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901" y="3350865"/>
            <a:ext cx="7874198" cy="777776"/>
          </a:xfrm>
          <a:prstGeom prst="roundRect">
            <a:avLst>
              <a:gd name="adj" fmla="val 9797"/>
            </a:avLst>
          </a:prstGeom>
          <a:solidFill>
            <a:srgbClr val="2E86C1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58713" y="3350865"/>
            <a:ext cx="0" cy="777776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926" y="3503265"/>
            <a:ext cx="7672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4926" y="3766691"/>
            <a:ext cx="76722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自分のテーブルで Query Profile を確認し、プルーニング率が低いクエリを特定してチューニングを開始する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 クラスタリングと検索最適化サービス</dc:title>
  <dc:subject>PptxGenJS Presentation</dc:subject>
  <dc:creator>Taichi</dc:creator>
  <cp:lastModifiedBy>Taichi</cp:lastModifiedBy>
  <cp:revision>1</cp:revision>
  <dcterms:created xsi:type="dcterms:W3CDTF">2026-04-07T17:17:32Z</dcterms:created>
  <dcterms:modified xsi:type="dcterms:W3CDTF">2026-04-07T17:17:32Z</dcterms:modified>
</cp:coreProperties>
</file>